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20095" cy="2011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F1F5F9"/>
                </a:solidFill>
                <a:latin typeface="Segoe UI"/>
              </a:defRPr>
            </a:pPr>
            <a:r>
              <a:t>FictiPay Customer Churn Prediction System</a:t>
            </a:r>
          </a:p>
          <a:p>
            <a:pPr>
              <a:defRPr sz="2000">
                <a:solidFill>
                  <a:srgbClr val="0EA5E9"/>
                </a:solidFill>
                <a:latin typeface="Segoe UI"/>
              </a:defRPr>
            </a:pPr>
            <a:r>
              <a:t>Proactive Profit Protection via High-Scale Distributed ML &amp; Explainable AI (XAI)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474720"/>
            <a:ext cx="3291840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2834640" cy="21945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43F5E"/>
                </a:solidFill>
                <a:latin typeface="Segoe UI"/>
              </a:defRPr>
            </a:pPr>
            <a:r>
              <a:t>The Retention Problem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Acquisition costs 5x to 25x more than retaining a wallet user.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Silent churn causes massive revenue erosion before detection.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Proactive mitigation preserves customer lifetime value (CLTV).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474720"/>
            <a:ext cx="3291840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3657600"/>
            <a:ext cx="2834640" cy="21945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Segoe UI"/>
              </a:defRPr>
            </a:pPr>
            <a:r>
              <a:t>The Predictive Objective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Identify high-risk accounts 30 days before silent churn occurs.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Translate model explanations into targeted local interventions.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Orchestrate an automated win-back rule engine for marketing.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3474720"/>
            <a:ext cx="3383280" cy="25603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3657600"/>
            <a:ext cx="2926080" cy="21945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Key System Outcomes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Robust 10-fold CV ensemble achieves a peak 0.983 AUC score.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SHAP TreeExplainer ensures leakage-free customer attribution.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Threshold optimization balances precision and intervention cost.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Segoe UI"/>
              </a:defRPr>
            </a:pPr>
            <a:r>
              <a:t>Scalable Data Architecture: Handling Massive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Framework Strategy: Dask vs. Spark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Selected Dask for out-of-core, distributed computing in Python.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Deep integration with the PyData stack (Scikit-Learn, XGBoost).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Lighter-weight cluster orchestration compared to JVM-based Spark.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Avoids expensive serialization layers, keeping debugging native.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Handles multi-gigabyte datasets smoothly on single-node or clusters.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828800"/>
            <a:ext cx="4663440" cy="4023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Segoe UI"/>
              </a:defRPr>
            </a:pPr>
            <a:r>
              <a:t>Partitioning &amp; Bucketing Design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Data Scales: KYC (2M rows), Transactions (200M+ rows), Day-End Balances (360M rows).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Lazy Evaluation: Read Parquet datasets using strict column pruning.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Month-based partitioning isolates historical windows efficiently.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Bucketing on ACCOUNT_ID aligns partitions across transactions and balance tables.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Minimizes expensive distributed network shuffling during massive merges.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Segoe UI"/>
              </a:defRPr>
            </a:pPr>
            <a:r>
              <a:t>Rolling-Window Framework &amp; Feature Quality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Temporal Rolling-Window Framework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Separates historical inputs from future outcomes to prevent leakage.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Observation Window: Jan 1 – Mar 31 (90 days behavioral logs).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Evaluation Window: Apr 1 – Apr 30 (30 days inactivity window).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Target Churn: CHURN = 1 if transactions in April == 0, else 0.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Allows detection of silent churners who slowly drain their wallets.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Strict cutoff at March 31 ensures zero leakage of future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828800"/>
            <a:ext cx="4663440" cy="4023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Segoe UI"/>
              </a:defRPr>
            </a:pPr>
            <a:r>
              <a:t>Handling Data Skew &amp; Zero-Inflation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Financial aggregates (spend, counts) exhibit extreme log-normal skewness.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Applied log1p transformations to regularize feature distributions.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Zero-Inflation: High percentage of zero values in specific services (e.g., BillPay).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Used a two-stage Hurdle Model approach: Flagging zero-state vs. modeling quantity.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Adding binary zero-activity flags preserves physical meaning for tree nodes.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Segoe UI"/>
              </a:defRPr>
            </a:pPr>
            <a:r>
              <a:t>Mitigating Class Imbalance: Focusing on the Minority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Traditional Resampling vs. Hybrid SMOTE-ENN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Severe class imbalance present with Churn prevalence at ~5%.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Traditional SMOTE creates synthetic points but introduces noisy outliers.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SMOTE-ENN oversamples the minority class and then uses Edited Nearest Neighbors to clean the decision boundary.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Removes overlapping majority samples, sharpening structural boundaries.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Enhances precision near complex boundaries, reducing false positives.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828800"/>
            <a:ext cx="4663440" cy="4023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Segoe UI"/>
              </a:defRPr>
            </a:pPr>
            <a:r>
              <a:t>Class-Weighted Loss &amp; Scalability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For massive terabyte-scale datasets, SMOTE-ENN is too slow.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Alternative: Adjust class weights directly in the loss function.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Set scale_pos_weight in XGBoost/LightGBM dynamically based on imbalance ratio.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Forces gradient updates to prioritize errors on the minority class.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Maintains O(N) training scale while yielding robust recall profiles.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Segoe UI"/>
              </a:defRPr>
            </a:pPr>
            <a:r>
              <a:t>Advanced Ensemble: Dual-Engine Model Zoo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Ensemble Architecture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Combines tabular boosters with deep representation models.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XGBoost &amp; LightGBM: Build deep, high-efficiency decision splits.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FT-Transformer: Encodes categorical/numerical inputs through self-attention layers to capture complex cross-feature interactions.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Diversity in model structures stabilizes predictions against noise.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Peak Out-of-Fold (OOF) validation ROC-AUC reaches 0.983.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828800"/>
            <a:ext cx="4663440" cy="4023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Segoe UI"/>
              </a:defRPr>
            </a:pPr>
            <a:r>
              <a:t>Out-of-Fold Stacking &amp; Calibration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Used 10-Fold Stratified Cross-Validation to generate OOF outputs.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A Logistic Regression meta-learner blends base model predictions.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Rank-Average Blending converts probabilities to percentiles to avoid calibration variance.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Isotonic Regression calibrates blended ranks back to true probability.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Secures smooth, monotonically calibrated risk outputs for downstream tools.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Segoe UI"/>
              </a:defRPr>
            </a:pPr>
            <a:r>
              <a:t>Explainable AI (XAI): Model Transparency via SHAP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Global Interpretability (Beeswarm)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Calculates exact Shapley values to attribute feature importance.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Top Churn Risk Drivers: Outbound transaction recency, increasing daily balance volatility, and decaying activity trends.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Top Protective Drivers: Long account tenure, usage of sticky features (e.g. BillPay), and positive monthly net-flow.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Reveals non-linear trends (e.g. very high balance is protective, but volatile balance indicates flight risk).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828800"/>
            <a:ext cx="4663440" cy="4023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Segoe UI"/>
              </a:defRPr>
            </a:pPr>
            <a:r>
              <a:t>Local Interpretability (Waterfall)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Explains the exact churn probability for any individual customer.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Traces base value (dataset average) to prediction value via additive step-wise SHAP contributions.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Example: High-risk customer's 82% churn probability driven by: monthly balance drop (+24% risk), month-to-month contract flag (+18% risk), and zero outbound transactions in March (+15% risk).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Segoe UI"/>
              </a:defRPr>
            </a:pPr>
            <a:r>
              <a:t>Translating Predictions to Targeted Win-Back Strategies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Rule-Based Automated Interventions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Recency Gap (High Inactivity) -&gt; Offer transaction cashback vouchers.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Draining Balance (Negative Trend) -&gt; Interest-booster balance campaign.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Zero Bill Pay / Merchant Pay -&gt; Utility discount or merchant store vouchers (establishes high-stickiness wallet habits).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High Activity Decay (Sudden Drops) -&gt; Initiate proactive outbound customer service calls to resolve support friction 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828800"/>
            <a:ext cx="4663440" cy="4023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Segoe UI"/>
              </a:defRPr>
            </a:pPr>
            <a:r>
              <a:t>Precision Campaigns &amp; Fatigue Mitigation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Prevents customer alert fatigue: Only target the top 10% highest-risk tier.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Optimizes marketing spend by ignoring stable customers who don't need incentives.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Omits lost-cause churners (extremely low balance, inactive for 90+ days).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Creates tailored, automatic customer journeys fed directly by nightly SHAP inference.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Segoe UI"/>
              </a:defRPr>
            </a:pPr>
            <a:r>
              <a:t>Financial ROI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EA5E9"/>
                </a:solidFill>
                <a:latin typeface="Segoe UI"/>
              </a:defRPr>
            </a:pPr>
            <a:r>
              <a:t>Cost-Sensitive Decision Optimization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Retention campaigns are not free. Setting a decision threshold is a balance.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Intervention Cost (e.g., cashback voucher) = 1 TK.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Churn Loss (missed customer retention value) = 5 TK.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Optimization Loss = 5 * False Negatives + 1 * False Positives.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Found optimal mathematical threshold at P &gt;= 0.32.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Maximizes profit recovery relative to marketing outreach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1828800"/>
            <a:ext cx="4663440" cy="4023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4B8A6"/>
                </a:solidFill>
                <a:latin typeface="Segoe UI"/>
              </a:defRPr>
            </a:pPr>
            <a:r>
              <a:t>Key Takeaways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Dask handles scaling constraints securely, integrating standard Scikit-Learn structures.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Hybrid SMOTE-ENN ensures sharp, robust validation splits.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SHAP TreeExplainer ensures reliable, leakage-free attribution.</a:t>
            </a:r>
          </a:p>
          <a:p>
            <a:pPr>
              <a:spcAft>
                <a:spcPts val="800"/>
              </a:spcAft>
              <a:defRPr sz="1300">
                <a:solidFill>
                  <a:srgbClr val="F1F5F9"/>
                </a:solidFill>
                <a:latin typeface="Segoe UI"/>
              </a:defRPr>
            </a:pPr>
            <a:r>
              <a:t>• ROI-optimized thresholding transforms predictions into a high-profit retention engine.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